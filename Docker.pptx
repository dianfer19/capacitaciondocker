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2" r:id="rId2"/>
    <p:sldId id="279" r:id="rId3"/>
    <p:sldId id="276" r:id="rId4"/>
    <p:sldId id="281" r:id="rId5"/>
    <p:sldId id="280" r:id="rId6"/>
    <p:sldId id="283" r:id="rId7"/>
    <p:sldId id="289" r:id="rId8"/>
    <p:sldId id="287" r:id="rId9"/>
    <p:sldId id="288" r:id="rId10"/>
    <p:sldId id="284" r:id="rId11"/>
    <p:sldId id="285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719" autoAdjust="0"/>
  </p:normalViewPr>
  <p:slideViewPr>
    <p:cSldViewPr snapToGrid="0" snapToObjects="1">
      <p:cViewPr varScale="1">
        <p:scale>
          <a:sx n="77" d="100"/>
          <a:sy n="77" d="100"/>
        </p:scale>
        <p:origin x="1824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2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3699C-7471-44CD-8A6B-6BD11699A596}" type="datetimeFigureOut">
              <a:rPr lang="es-EC" smtClean="0"/>
              <a:t>28/3/2026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F7537-37E8-4C35-A962-6090D3700DD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7905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6757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C819-2764-0D33-601F-26D7DC72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D0C8E9-C29B-78C3-7278-E4E86379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BBFC8C-C1E6-2956-09CD-FDAD73C33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473488-86BB-A0E0-1BF9-5D56ECEF3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31245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D124-5D93-8019-2DD5-2EBC3127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0C9A0A-E781-D000-4D3D-1AA6D874D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B5E495-8FAB-BC1C-060A-AE3735ED1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A2C72D-C3B0-F5A9-FAE4-1F4E607B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412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2251-A53E-2A6B-4A7C-4E1C68FF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7011E2-9EA8-CEB0-2FDA-A46255926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664902-37CB-30F3-3659-D842EC93D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🔹 Lado izquierdo: Docker y Contenedores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Infraestructura + Sistema Operativo Host:</a:t>
            </a:r>
            <a:r>
              <a:rPr lang="es-ES" dirty="0"/>
              <a:t> Es tu máquina real o servidor, con un sistema operativo base (Linux, Windows(subsistema Linux)).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Docker:</a:t>
            </a:r>
            <a:r>
              <a:rPr lang="es-ES" dirty="0"/>
              <a:t> Corre directamente sobre el sistema operativo y permite que varios contenedores se ejecuten sobre él.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Contenedores (App A, B, C…):</a:t>
            </a:r>
            <a:r>
              <a:rPr lang="es-ES" dirty="0"/>
              <a:t> Cada contenedor incluye la app y solo lo necesario para ejecutarla. No lleva un sistema operativo completo, por eso son más </a:t>
            </a:r>
            <a:r>
              <a:rPr lang="es-ES" b="1" dirty="0"/>
              <a:t>livianos y rápidos</a:t>
            </a:r>
            <a:r>
              <a:rPr lang="es-ES" dirty="0"/>
              <a:t>.</a:t>
            </a:r>
          </a:p>
          <a:p>
            <a:pPr>
              <a:buNone/>
            </a:pPr>
            <a:r>
              <a:rPr lang="es-ES" dirty="0"/>
              <a:t>📌 </a:t>
            </a:r>
            <a:r>
              <a:rPr lang="es-ES" i="1" dirty="0"/>
              <a:t>Ventaja:</a:t>
            </a:r>
            <a:r>
              <a:rPr lang="es-ES" dirty="0"/>
              <a:t> Se comparten recursos, se inicia en segundos, consume menos RAM, y puedes correr </a:t>
            </a:r>
            <a:r>
              <a:rPr lang="es-ES" b="1" dirty="0"/>
              <a:t>muchas apps sin tener 10 sistemas operativos pesados detrás</a:t>
            </a:r>
            <a:r>
              <a:rPr lang="es-ES" dirty="0"/>
              <a:t>.</a:t>
            </a:r>
            <a:br>
              <a:rPr lang="es-ES" dirty="0"/>
            </a:br>
            <a:r>
              <a:rPr lang="es-ES" b="1" dirty="0"/>
              <a:t>Lado derecho: Máquinas Virtuales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aplicación necesita su </a:t>
            </a:r>
            <a:r>
              <a:rPr lang="es-ES" b="1" dirty="0"/>
              <a:t>propio sistema operativo invitado (</a:t>
            </a:r>
            <a:r>
              <a:rPr lang="es-ES" b="1" dirty="0" err="1"/>
              <a:t>Guest</a:t>
            </a:r>
            <a:r>
              <a:rPr lang="es-ES" b="1" dirty="0"/>
              <a:t> OS)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Encima de la infraestructura está el </a:t>
            </a:r>
            <a:r>
              <a:rPr lang="es-ES" b="1" dirty="0"/>
              <a:t>hipervisor</a:t>
            </a:r>
            <a:r>
              <a:rPr lang="es-ES" dirty="0"/>
              <a:t>, que permite ejecutar múltiples máquinas virtuales.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VM lleva su OS completo, además de la app.</a:t>
            </a:r>
          </a:p>
          <a:p>
            <a:r>
              <a:rPr lang="es-ES" dirty="0"/>
              <a:t>📌 </a:t>
            </a:r>
            <a:r>
              <a:rPr lang="es-ES" i="1" dirty="0"/>
              <a:t>Desventaja:</a:t>
            </a:r>
            <a:r>
              <a:rPr lang="es-ES" dirty="0"/>
              <a:t> Más pesadas, más lentas de iniciar, y duplican cosas que podríamos compartir (como librerías del sistema).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358957-BB72-4A05-C1EE-4C033C518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518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EC2B-7632-60BB-5658-066544A7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B915D9-3D38-2030-CA4C-367126244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E6EFDA-C64E-3E1E-05B1-4EB7A5878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EE8830-0856-5973-B5D8-DF7986C59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8102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546A-A47E-865E-2EAD-473AC72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19374B-3377-EDE2-4F71-8091220D5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273AC7-B47C-D56C-38CD-02E9F7A64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Imagen Es como una </a:t>
            </a:r>
            <a:r>
              <a:rPr lang="es-ES" b="1" dirty="0"/>
              <a:t>plantilla congelada</a:t>
            </a:r>
            <a:r>
              <a:rPr lang="es-ES" dirty="0"/>
              <a:t> con todo lo que necesita la app (código, dependencias, sistema base). No se ejecuta, es solo un molde (las imágenes son inmutables). </a:t>
            </a:r>
            <a:br>
              <a:rPr lang="es-ES" dirty="0"/>
            </a:br>
            <a:r>
              <a:rPr lang="es-ES" dirty="0"/>
              <a:t>Contenedor. Es una </a:t>
            </a:r>
            <a:r>
              <a:rPr lang="es-ES" b="1" dirty="0"/>
              <a:t>instancia viva</a:t>
            </a:r>
            <a:r>
              <a:rPr lang="es-ES" dirty="0"/>
              <a:t> de una imagen. Es lo que realmente corre. Puedes tener muchos contenedores a partir de una imagen(son efímeros y </a:t>
            </a:r>
            <a:r>
              <a:rPr lang="es-ES" dirty="0" err="1"/>
              <a:t>dinamicos</a:t>
            </a:r>
            <a:r>
              <a:rPr lang="es-ES" dirty="0"/>
              <a:t>). 📌 Ejemplo:</a:t>
            </a:r>
            <a:br>
              <a:rPr lang="es-ES" dirty="0"/>
            </a:br>
            <a:r>
              <a:rPr lang="es-ES" dirty="0"/>
              <a:t>Si la imagen es un archivo .</a:t>
            </a:r>
            <a:r>
              <a:rPr lang="es-ES" dirty="0" err="1"/>
              <a:t>iso</a:t>
            </a:r>
            <a:r>
              <a:rPr lang="es-ES" dirty="0"/>
              <a:t> de Ubuntu, el contenedor es como una máquina que lo está usando en tiempo real.🎯 </a:t>
            </a:r>
            <a:r>
              <a:rPr lang="es-ES" i="1" dirty="0"/>
              <a:t>“Construir una imagen” es como hornear el pastel siguiendo esa receta.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69EBD0-DB19-E5A8-361D-0C05DD8F2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44232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5247-34DE-86EE-AC9B-1AA3928D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00F757-6445-0853-625B-155697552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969FA4-3928-2783-2229-FDE619048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 una </a:t>
            </a:r>
            <a:r>
              <a:rPr lang="es-MX" b="1" dirty="0"/>
              <a:t>receta paso a paso</a:t>
            </a:r>
            <a:r>
              <a:rPr lang="es-MX" dirty="0"/>
              <a:t> para construir una imagen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C" dirty="0"/>
              <a:t>Si una capa no cambia… </a:t>
            </a:r>
            <a:r>
              <a:rPr lang="es-EC" b="1" dirty="0"/>
              <a:t>Docker NO la vuelve a construir</a:t>
            </a:r>
            <a:endParaRPr lang="es-EC" dirty="0"/>
          </a:p>
          <a:p>
            <a:r>
              <a:rPr lang="es-MX" dirty="0"/>
              <a:t>Aquí mostrarle el error si copio primero todo y en una app estamos cambiando constante mente el código.</a:t>
            </a:r>
          </a:p>
          <a:p>
            <a:r>
              <a:rPr lang="es-MX" dirty="0"/>
              <a:t>Resumen:</a:t>
            </a:r>
          </a:p>
          <a:p>
            <a:r>
              <a:rPr lang="es-MX" dirty="0" err="1"/>
              <a:t>Dockerfile</a:t>
            </a:r>
            <a:r>
              <a:rPr lang="es-MX" dirty="0"/>
              <a:t> → define cómo construir </a:t>
            </a:r>
          </a:p>
          <a:p>
            <a:r>
              <a:rPr lang="es-MX" dirty="0"/>
              <a:t>Imagen → es el resultado </a:t>
            </a:r>
          </a:p>
          <a:p>
            <a:r>
              <a:rPr lang="es-MX" dirty="0"/>
              <a:t>Contenedor → es lo que se ejecuta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C2940-A6C7-0CA5-C49B-C98DACE16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2118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B8BB-1A88-AAA7-C619-2F12E0D7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7277BA-BFDA-8AE6-CDC5-4AA93A707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D50A21-18E7-66C3-F401-482126C85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b="1" dirty="0"/>
              <a:t>🐳 Componentes de un Contenedor</a:t>
            </a:r>
          </a:p>
          <a:p>
            <a:r>
              <a:rPr lang="es-EC" dirty="0"/>
              <a:t>🔌 Networks → comunicación entre servicios (BRIDGE, HOST, OVERLAY, MACVLAN, NONE)</a:t>
            </a:r>
          </a:p>
          <a:p>
            <a:r>
              <a:rPr lang="es-EC" dirty="0"/>
              <a:t>💾 </a:t>
            </a:r>
            <a:r>
              <a:rPr lang="es-EC" dirty="0" err="1"/>
              <a:t>Volumes</a:t>
            </a:r>
            <a:r>
              <a:rPr lang="es-EC" dirty="0"/>
              <a:t> → persistencia de datos (Nativos, </a:t>
            </a:r>
            <a:r>
              <a:rPr lang="es-EC" dirty="0" err="1"/>
              <a:t>bind</a:t>
            </a:r>
            <a:r>
              <a:rPr lang="es-EC" dirty="0"/>
              <a:t> </a:t>
            </a:r>
            <a:r>
              <a:rPr lang="es-EC" dirty="0" err="1"/>
              <a:t>mounts</a:t>
            </a:r>
            <a:r>
              <a:rPr lang="es-EC" dirty="0"/>
              <a:t>, remotes (no he </a:t>
            </a:r>
            <a:r>
              <a:rPr lang="es-EC" dirty="0" err="1"/>
              <a:t>trabajdo</a:t>
            </a:r>
            <a:r>
              <a:rPr lang="es-EC" dirty="0"/>
              <a:t>))</a:t>
            </a:r>
          </a:p>
          <a:p>
            <a:r>
              <a:rPr lang="es-EC" dirty="0"/>
              <a:t>🌱 </a:t>
            </a:r>
            <a:r>
              <a:rPr lang="es-EC" dirty="0" err="1"/>
              <a:t>Environment</a:t>
            </a:r>
            <a:r>
              <a:rPr lang="es-EC" dirty="0"/>
              <a:t> → configuración dinámica </a:t>
            </a:r>
          </a:p>
          <a:p>
            <a:r>
              <a:rPr lang="es-EC" dirty="0"/>
              <a:t>🔗 </a:t>
            </a:r>
            <a:r>
              <a:rPr lang="es-EC" dirty="0" err="1"/>
              <a:t>depends_on</a:t>
            </a:r>
            <a:r>
              <a:rPr lang="es-EC" dirty="0"/>
              <a:t> → orden de ejecución </a:t>
            </a:r>
          </a:p>
          <a:p>
            <a:r>
              <a:rPr lang="es-EC" dirty="0"/>
              <a:t>⚙️ CMD / ENTRYPOINT → proceso principal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C" dirty="0"/>
              <a:t>📦 </a:t>
            </a:r>
            <a:r>
              <a:rPr lang="es-EC" dirty="0" err="1"/>
              <a:t>Ports</a:t>
            </a:r>
            <a:r>
              <a:rPr lang="es-EC" dirty="0"/>
              <a:t> → acceso desde el exterior</a:t>
            </a:r>
            <a:br>
              <a:rPr lang="es-EC" dirty="0"/>
            </a:br>
            <a:br>
              <a:rPr lang="es-EC" dirty="0"/>
            </a:br>
            <a:r>
              <a:rPr lang="es-EC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</a:t>
            </a:r>
            <a:r>
              <a:rPr lang="es-EC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C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inspect</a:t>
            </a:r>
            <a:r>
              <a:rPr lang="es-EC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&lt;container&gt;</a:t>
            </a:r>
          </a:p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6C12E0-EFBB-CDDE-3DF9-C34255A8C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6951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BAA1-AEE0-D2D1-96B3-5C0FA791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F44583-0A86-81A3-41F0-D73E1BC31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5D549B-D0AE-4B78-CE21-E701AFE17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Una imagen Docker tiene dos decisiones importantes:</a:t>
            </a:r>
          </a:p>
          <a:p>
            <a:r>
              <a:rPr lang="es-MX" dirty="0"/>
              <a:t>El sistema base (Debian, Alpine…) </a:t>
            </a:r>
          </a:p>
          <a:p>
            <a:r>
              <a:rPr lang="es-MX" dirty="0"/>
              <a:t>Qué tan pesada o ligera es (full, </a:t>
            </a:r>
            <a:r>
              <a:rPr lang="es-MX" dirty="0" err="1"/>
              <a:t>slim</a:t>
            </a:r>
            <a:r>
              <a:rPr lang="es-MX" dirty="0"/>
              <a:t>…)</a:t>
            </a:r>
            <a:br>
              <a:rPr lang="es-MX" dirty="0"/>
            </a:br>
            <a:r>
              <a:rPr lang="es-MX" dirty="0"/>
              <a:t>Ejemplo: </a:t>
            </a:r>
            <a:r>
              <a:rPr lang="es-EC" dirty="0"/>
              <a:t>Debian → personaje con armadura completa - Slim → </a:t>
            </a:r>
            <a:r>
              <a:rPr lang="es-EC" dirty="0" err="1"/>
              <a:t>build</a:t>
            </a:r>
            <a:r>
              <a:rPr lang="es-EC" dirty="0"/>
              <a:t> optimizado - Alpine → </a:t>
            </a:r>
            <a:r>
              <a:rPr lang="es-EC" dirty="0" err="1"/>
              <a:t>speedrunner</a:t>
            </a:r>
            <a:r>
              <a:rPr lang="es-EC" dirty="0"/>
              <a:t> sin peso</a:t>
            </a:r>
          </a:p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20D09-5685-FE02-7FAB-B4EC6E16D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2891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C" dirty="0" err="1"/>
              <a:t>docker-compose.yml</a:t>
            </a:r>
            <a:r>
              <a:rPr lang="es-EC" dirty="0"/>
              <a:t> te permite </a:t>
            </a:r>
            <a:r>
              <a:rPr lang="es-EC" b="1" dirty="0"/>
              <a:t>orquestar varios contenedores</a:t>
            </a:r>
            <a:r>
              <a:rPr lang="es-EC" dirty="0"/>
              <a:t> a la vez (por ejemplo: Django + PostgreSQL + Redis), </a:t>
            </a:r>
            <a:r>
              <a:rPr lang="es-ES" dirty="0"/>
              <a:t>🧩 Es tener un archivo .</a:t>
            </a:r>
            <a:r>
              <a:rPr lang="es-ES" dirty="0" err="1"/>
              <a:t>yml</a:t>
            </a:r>
            <a:r>
              <a:rPr lang="es-ES" dirty="0"/>
              <a:t> donde defines los servicios, redes, volúmenes, y los levantas todos juntos.</a:t>
            </a:r>
          </a:p>
          <a:p>
            <a:pPr>
              <a:buNone/>
            </a:pPr>
            <a:r>
              <a:rPr lang="es-ES" dirty="0" err="1"/>
              <a:t>bash</a:t>
            </a:r>
            <a:endParaRPr lang="es-EC" dirty="0"/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88331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dirty="0"/>
              <a:t>🎯 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Más limpio y </a:t>
            </a:r>
            <a:r>
              <a:rPr lang="es-ES" b="1" dirty="0"/>
              <a:t>legible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Puedes </a:t>
            </a:r>
            <a:r>
              <a:rPr lang="es-ES" b="1" dirty="0"/>
              <a:t>versionarlo</a:t>
            </a:r>
            <a:r>
              <a:rPr lang="es-ES" dirty="0"/>
              <a:t> en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Puedes levantarlo con un solo comando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Puedes apagarlo igual de fácil (</a:t>
            </a:r>
            <a:r>
              <a:rPr lang="es-ES" dirty="0" err="1"/>
              <a:t>docker-compose</a:t>
            </a:r>
            <a:r>
              <a:rPr lang="es-ES" dirty="0"/>
              <a:t> </a:t>
            </a:r>
            <a:r>
              <a:rPr lang="es-ES" dirty="0" err="1"/>
              <a:t>down</a:t>
            </a:r>
            <a:r>
              <a:rPr lang="es-E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Ideal para </a:t>
            </a:r>
            <a:r>
              <a:rPr lang="es-ES" b="1" dirty="0"/>
              <a:t>desarrollo, </a:t>
            </a:r>
            <a:r>
              <a:rPr lang="es-ES" b="1" dirty="0" err="1"/>
              <a:t>testing</a:t>
            </a:r>
            <a:r>
              <a:rPr lang="es-ES" b="1" dirty="0"/>
              <a:t>, </a:t>
            </a:r>
            <a:r>
              <a:rPr lang="es-ES" b="1" dirty="0" err="1"/>
              <a:t>staging</a:t>
            </a:r>
            <a:endParaRPr lang="es-ES" dirty="0"/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F7537-37E8-4C35-A962-6090D3700DD0}" type="slidenum">
              <a:rPr lang="es-EC" smtClean="0"/>
              <a:t>11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5007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784" y="248038"/>
            <a:ext cx="529779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3500" dirty="0">
                <a:solidFill>
                  <a:srgbClr val="FFFFFF"/>
                </a:solidFill>
              </a:rPr>
              <a:t>Capacitación </a:t>
            </a:r>
            <a:endParaRPr lang="es-EC" sz="35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74" y="390832"/>
            <a:ext cx="2425189" cy="873612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C" sz="1700" dirty="0">
                <a:solidFill>
                  <a:srgbClr val="FFFFFF"/>
                </a:solidFill>
              </a:rPr>
              <a:t>Gerencia: Innovación Tecnológica </a:t>
            </a:r>
          </a:p>
          <a:p>
            <a:pPr algn="l">
              <a:lnSpc>
                <a:spcPct val="90000"/>
              </a:lnSpc>
            </a:pPr>
            <a:r>
              <a:rPr lang="es-EC" sz="1700" noProof="0" dirty="0">
                <a:solidFill>
                  <a:srgbClr val="FFFFFF"/>
                </a:solidFill>
              </a:rPr>
              <a:t>Autor: Dian Bajaña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79B1CB-420A-8AD2-B3AD-EB550B8C4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36" y="3026427"/>
            <a:ext cx="8004132" cy="208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78799-D74F-0FE8-9F7B-4F021D85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14FCC7-E754-CA50-206A-0D01DDA05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37196A-3BC2-313A-6244-9E9886848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11C1FF-E4B9-38A1-F3B4-B7DF76C90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337D3-2464-73A5-215E-446D3F694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32213-1B4B-3ACF-7176-F5FA0FF35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821982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s-E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🚀 </a:t>
            </a:r>
            <a:r>
              <a:rPr lang="en-US" sz="3600" kern="1200" noProof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Introducción</a:t>
            </a:r>
            <a:r>
              <a:rPr lang="en-US" sz="36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Docker</a:t>
            </a:r>
            <a:br>
              <a:rPr lang="es-E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s-EC" sz="35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Que es Docker? - YouTube">
            <a:extLst>
              <a:ext uri="{FF2B5EF4-FFF2-40B4-BE49-F238E27FC236}">
                <a16:creationId xmlns:a16="http://schemas.microsoft.com/office/drawing/2014/main" id="{6A17B00A-5987-A2C4-D856-E62DD334E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415497" y="1655276"/>
            <a:ext cx="3276834" cy="184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51EC949-A7B9-40BB-9DA4-E3F71DC3D322}"/>
              </a:ext>
            </a:extLst>
          </p:cNvPr>
          <p:cNvSpPr txBox="1"/>
          <p:nvPr/>
        </p:nvSpPr>
        <p:spPr>
          <a:xfrm>
            <a:off x="388883" y="3951097"/>
            <a:ext cx="8355724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>
                  <a:alpha val="8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701656-BC55-0A22-9467-7DE86411B8DD}"/>
              </a:ext>
            </a:extLst>
          </p:cNvPr>
          <p:cNvSpPr txBox="1"/>
          <p:nvPr/>
        </p:nvSpPr>
        <p:spPr>
          <a:xfrm>
            <a:off x="524784" y="3725395"/>
            <a:ext cx="81252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Docker es una plataforma de código abierto que permite empaquetar, distribuir y ejecutar aplicaciones en contenedores, lo que simplifica la creación, implementación y administración de aplicaciones de manera rápida y eficaz.</a:t>
            </a:r>
          </a:p>
        </p:txBody>
      </p:sp>
    </p:spTree>
    <p:extLst>
      <p:ext uri="{BB962C8B-B14F-4D97-AF65-F5344CB8AC3E}">
        <p14:creationId xmlns:p14="http://schemas.microsoft.com/office/powerpoint/2010/main" val="339083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0B757-B795-5B12-CA0F-7EE56014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B9042-C395-C689-7753-C8945082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🧠 ¿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problema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resuelve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Docker?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E7D637D-C5A1-B070-7915-F4477381FBA2}"/>
              </a:ext>
            </a:extLst>
          </p:cNvPr>
          <p:cNvSpPr txBox="1"/>
          <p:nvPr/>
        </p:nvSpPr>
        <p:spPr>
          <a:xfrm>
            <a:off x="820550" y="1815716"/>
            <a:ext cx="762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Tradicionalmente, cuando desplegamos aplicaciones en diferentes entornos (tu máquina, servidor, cliente), </a:t>
            </a:r>
            <a:r>
              <a:rPr lang="es-ES" sz="2400" b="1" dirty="0"/>
              <a:t>“funciona en mi PC”</a:t>
            </a:r>
            <a:r>
              <a:rPr lang="es-ES" sz="2400" dirty="0"/>
              <a:t> se vuelve un problema. Docker nos da una forma de </a:t>
            </a:r>
            <a:r>
              <a:rPr lang="es-ES" sz="2400" b="1" dirty="0"/>
              <a:t>empaquetar todo el entorno de ejecución</a:t>
            </a:r>
            <a:r>
              <a:rPr lang="es-ES" sz="2400" dirty="0"/>
              <a:t> de una aplicación (sistema de archivos, dependencias, configuraciones) para que se ejecute igual en cualquier lugar.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4651E8-CDE4-1FD9-8FF5-B640798A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79" y="4174811"/>
            <a:ext cx="3351663" cy="243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66D4F-6346-0774-7984-F2165C89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F21CE57-54D7-53CC-160F-FF70F51BF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97CC49-AB2C-45EE-A528-DE4E94610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49B25F-9216-162F-1395-A9AE52C82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47BB4-AB65-1D7C-94EB-631211FA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DEEAB-5424-A7A8-D92D-5112FE35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🧠 ¿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Comparativa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con VM?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F5FB678-C838-085F-C6B5-174F70A71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8" y="2472002"/>
            <a:ext cx="8495662" cy="34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0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D54CD-1437-E492-54F8-3C3C407A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10E72-F947-9329-C27B-CC346638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🧠 ¿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problema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resuelve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Docker?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A2D3F3-A2C8-749F-4CCD-7C9471333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8" y="2556958"/>
            <a:ext cx="8495662" cy="327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2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DE3B3-A1C5-C78F-F3C8-66C74123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C8176A1-6923-0342-FC60-4F9427B2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EE734C-A252-B50E-9776-D3F30A3A6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51C80FD-D55B-12B9-BDDA-104F015E0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02D85F-3629-6DF9-2991-F2DCFF797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1B85B-D4E8-2221-C6B1-9D2091C7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✏️¿Qué es una imagen? ¿Qué es un contenedor?</a:t>
            </a:r>
            <a:endParaRPr lang="en-US" sz="35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DB39F75-3954-941F-E846-2D83BE05C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35576"/>
              </p:ext>
            </p:extLst>
          </p:nvPr>
        </p:nvGraphicFramePr>
        <p:xfrm>
          <a:off x="457200" y="2697798"/>
          <a:ext cx="8229600" cy="731202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797073760"/>
                    </a:ext>
                  </a:extLst>
                </a:gridCol>
              </a:tblGrid>
              <a:tr h="731202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50858"/>
                  </a:ext>
                </a:extLst>
              </a:tr>
            </a:tbl>
          </a:graphicData>
        </a:graphic>
      </p:graphicFrame>
      <p:pic>
        <p:nvPicPr>
          <p:cNvPr id="4098" name="Picture 2" descr="De Docker a Kubernetes: entendiendo qué son los contenedores y por qué es  una de las mayores revoluciones de la industria del desarrollo">
            <a:extLst>
              <a:ext uri="{FF2B5EF4-FFF2-40B4-BE49-F238E27FC236}">
                <a16:creationId xmlns:a16="http://schemas.microsoft.com/office/drawing/2014/main" id="{F4F5989A-8E21-B656-1A3B-641649B41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0" y="2366963"/>
            <a:ext cx="7029841" cy="302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12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7CD87-9F77-D038-6735-A7361291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26818F3-1913-7DE1-6D62-B66D02128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6550D2-E884-C57A-94DC-3CD725521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812801-74FE-2049-C271-3F5D11FD4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E904B9-79DC-3EA9-23E2-4D89D9A92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CB55C-A147-E2BD-400B-97720DD8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C" sz="3600" b="1" dirty="0">
                <a:solidFill>
                  <a:schemeClr val="bg1"/>
                </a:solidFill>
              </a:rPr>
              <a:t>🐳 </a:t>
            </a:r>
            <a:r>
              <a:rPr lang="es-EC" sz="3600" dirty="0">
                <a:solidFill>
                  <a:schemeClr val="bg1"/>
                </a:solidFill>
              </a:rPr>
              <a:t>¿Qué es un </a:t>
            </a:r>
            <a:r>
              <a:rPr lang="es-EC" sz="3600" dirty="0" err="1">
                <a:solidFill>
                  <a:schemeClr val="bg1"/>
                </a:solidFill>
              </a:rPr>
              <a:t>Dockerfile</a:t>
            </a:r>
            <a:r>
              <a:rPr lang="es-EC" sz="3600" dirty="0">
                <a:solidFill>
                  <a:schemeClr val="bg1"/>
                </a:solidFill>
              </a:rPr>
              <a:t>?</a:t>
            </a:r>
            <a:endParaRPr lang="es-EC" sz="3600" b="1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1A7F22-DA32-0B3D-603D-EDD65340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37" y="3843668"/>
            <a:ext cx="6215624" cy="27662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157B7D6-28B6-78C9-9020-9743E2547448}"/>
              </a:ext>
            </a:extLst>
          </p:cNvPr>
          <p:cNvSpPr txBox="1"/>
          <p:nvPr/>
        </p:nvSpPr>
        <p:spPr>
          <a:xfrm>
            <a:off x="424216" y="1822348"/>
            <a:ext cx="34588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/>
              <a:t>👉 Cada instrucción crea una </a:t>
            </a:r>
            <a:r>
              <a:rPr lang="es-MX" b="1" dirty="0"/>
              <a:t>capa (</a:t>
            </a:r>
            <a:r>
              <a:rPr lang="es-MX" b="1" dirty="0" err="1"/>
              <a:t>layer</a:t>
            </a:r>
            <a:r>
              <a:rPr lang="es-MX" b="1" dirty="0"/>
              <a:t>)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FROM → capa 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RUN → nueva capa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COPY → nueva capa </a:t>
            </a:r>
          </a:p>
          <a:p>
            <a:pPr>
              <a:buNone/>
            </a:pPr>
            <a:r>
              <a:rPr lang="es-MX" dirty="0"/>
              <a:t>💡 Docker reutiliza capas (cache)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579378-B98A-9060-61C7-F80C467A24AD}"/>
              </a:ext>
            </a:extLst>
          </p:cNvPr>
          <p:cNvSpPr txBox="1"/>
          <p:nvPr/>
        </p:nvSpPr>
        <p:spPr>
          <a:xfrm>
            <a:off x="4227534" y="1796615"/>
            <a:ext cx="3826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🧠 Pro </a:t>
            </a:r>
            <a:r>
              <a:rPr lang="es-MX" b="1" dirty="0" err="1"/>
              <a:t>tip</a:t>
            </a:r>
            <a:endParaRPr lang="es-MX" b="1" dirty="0"/>
          </a:p>
          <a:p>
            <a:pPr>
              <a:buNone/>
            </a:pPr>
            <a:r>
              <a:rPr lang="es-MX" dirty="0"/>
              <a:t>Un </a:t>
            </a:r>
            <a:r>
              <a:rPr lang="es-MX" dirty="0" err="1"/>
              <a:t>Dockerfile</a:t>
            </a:r>
            <a:r>
              <a:rPr lang="es-MX" dirty="0"/>
              <a:t> mal hecho funciona…</a:t>
            </a:r>
            <a:br>
              <a:rPr lang="es-MX" dirty="0"/>
            </a:br>
            <a:r>
              <a:rPr lang="es-MX" dirty="0"/>
              <a:t>uno bien hecho escala.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655131-0397-DACE-446B-F35E5258E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58" y="335188"/>
            <a:ext cx="19050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8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F1D78-B7D4-035A-A281-4E1BEA82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A1248C7-A441-F8F7-6CA6-9278079F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259AE8-A216-702E-53E9-9E73887B0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88E9E6-F580-84A0-E021-3543FE389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46C35D-F4BF-0EA5-2C27-99CED15F6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6DD61-CAC5-376D-82E9-1A6F8794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3600" b="1" dirty="0">
                <a:solidFill>
                  <a:schemeClr val="bg1"/>
                </a:solidFill>
              </a:rPr>
              <a:t>🧩 Elementos de un contenedor Docker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423F567-8C90-8420-319E-DAB103BB475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697798"/>
          <a:ext cx="8229600" cy="731202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797073760"/>
                    </a:ext>
                  </a:extLst>
                </a:gridCol>
              </a:tblGrid>
              <a:tr h="731202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5085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A8981ED0-F70D-61F4-F50D-3313064E7E7E}"/>
              </a:ext>
            </a:extLst>
          </p:cNvPr>
          <p:cNvSpPr txBox="1"/>
          <p:nvPr/>
        </p:nvSpPr>
        <p:spPr>
          <a:xfrm>
            <a:off x="524784" y="2074525"/>
            <a:ext cx="4274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🔌 Redes (Networks)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Permiten comunicación entre contenedores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Ej</a:t>
            </a:r>
            <a:r>
              <a:rPr lang="es-MX" dirty="0"/>
              <a:t>: </a:t>
            </a:r>
            <a:r>
              <a:rPr lang="es-MX" dirty="0" err="1"/>
              <a:t>backend</a:t>
            </a:r>
            <a:r>
              <a:rPr lang="es-MX" dirty="0"/>
              <a:t> ↔ </a:t>
            </a:r>
            <a:r>
              <a:rPr lang="es-MX" dirty="0" err="1"/>
              <a:t>database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66AE5C-6CB1-515A-8834-39F6FBFE3D24}"/>
              </a:ext>
            </a:extLst>
          </p:cNvPr>
          <p:cNvSpPr txBox="1"/>
          <p:nvPr/>
        </p:nvSpPr>
        <p:spPr>
          <a:xfrm>
            <a:off x="4869383" y="209763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💾 Volúmenes (</a:t>
            </a:r>
            <a:r>
              <a:rPr lang="es-MX" b="1" dirty="0" err="1"/>
              <a:t>Volumes</a:t>
            </a:r>
            <a:r>
              <a:rPr lang="es-MX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Persistencia de datos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Evita perder </a:t>
            </a:r>
            <a:r>
              <a:rPr lang="es-MX" dirty="0" err="1"/>
              <a:t>info</a:t>
            </a:r>
            <a:r>
              <a:rPr lang="es-MX" dirty="0"/>
              <a:t> cuando el contenedor muere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CEA343-3C3C-8D55-DF3C-BBDAAB3B5FFA}"/>
              </a:ext>
            </a:extLst>
          </p:cNvPr>
          <p:cNvSpPr txBox="1"/>
          <p:nvPr/>
        </p:nvSpPr>
        <p:spPr>
          <a:xfrm>
            <a:off x="524784" y="3341122"/>
            <a:ext cx="472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🌱 Variables de entorno (ENV)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Configuración dinámica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Ej</a:t>
            </a:r>
            <a:r>
              <a:rPr lang="es-MX" dirty="0"/>
              <a:t>: </a:t>
            </a:r>
            <a:r>
              <a:rPr lang="es-MX" dirty="0" err="1"/>
              <a:t>passwords</a:t>
            </a:r>
            <a:r>
              <a:rPr lang="es-MX" dirty="0"/>
              <a:t>, </a:t>
            </a:r>
            <a:r>
              <a:rPr lang="es-MX" dirty="0" err="1"/>
              <a:t>URLs</a:t>
            </a:r>
            <a:r>
              <a:rPr lang="es-MX" dirty="0"/>
              <a:t>, </a:t>
            </a:r>
            <a:r>
              <a:rPr lang="es-MX" dirty="0" err="1"/>
              <a:t>keys</a:t>
            </a:r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6C6642-C1F0-3969-62DD-B478B39708BC}"/>
              </a:ext>
            </a:extLst>
          </p:cNvPr>
          <p:cNvSpPr txBox="1"/>
          <p:nvPr/>
        </p:nvSpPr>
        <p:spPr>
          <a:xfrm>
            <a:off x="4869383" y="3348777"/>
            <a:ext cx="3639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C" b="1" dirty="0"/>
              <a:t>🔗 </a:t>
            </a:r>
            <a:r>
              <a:rPr lang="es-EC" b="1" dirty="0" err="1"/>
              <a:t>depends_on</a:t>
            </a:r>
            <a:endParaRPr lang="es-EC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Orden de arranque entre servicios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F0C1F8-DA1E-3C10-19A3-AC3939C9C73B}"/>
              </a:ext>
            </a:extLst>
          </p:cNvPr>
          <p:cNvSpPr txBox="1"/>
          <p:nvPr/>
        </p:nvSpPr>
        <p:spPr>
          <a:xfrm>
            <a:off x="524784" y="4412298"/>
            <a:ext cx="35042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/>
              <a:t>🧱 Imagen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/>
              <a:t>Todo parte de una imagen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/>
              <a:t>Ej: python, nginx, node</a:t>
            </a: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A593421-37D9-2576-66F0-75F8DDC0BBA2}"/>
              </a:ext>
            </a:extLst>
          </p:cNvPr>
          <p:cNvSpPr txBox="1"/>
          <p:nvPr/>
        </p:nvSpPr>
        <p:spPr>
          <a:xfrm>
            <a:off x="4947082" y="4273729"/>
            <a:ext cx="3832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⚙️ Comandos (CMD / ENTRYPOINT)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Qué ejecuta el contenedor al iniciar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2D51EEA-DD4A-7ACE-6E83-A7183FF96D1D}"/>
              </a:ext>
            </a:extLst>
          </p:cNvPr>
          <p:cNvSpPr txBox="1"/>
          <p:nvPr/>
        </p:nvSpPr>
        <p:spPr>
          <a:xfrm>
            <a:off x="524784" y="5483474"/>
            <a:ext cx="2712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📦 Puertos (</a:t>
            </a:r>
            <a:r>
              <a:rPr lang="es-MX" b="1" dirty="0" err="1"/>
              <a:t>ports</a:t>
            </a:r>
            <a:r>
              <a:rPr lang="es-MX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Exposición al exterior</a:t>
            </a:r>
          </a:p>
        </p:txBody>
      </p:sp>
    </p:spTree>
    <p:extLst>
      <p:ext uri="{BB962C8B-B14F-4D97-AF65-F5344CB8AC3E}">
        <p14:creationId xmlns:p14="http://schemas.microsoft.com/office/powerpoint/2010/main" val="79374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8512A-65D1-5BC3-6CCE-E13384A4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ACABF05-7B30-1AA1-9C37-B3D19BF09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75D55C-C19A-5015-CC28-B941CD2DA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70D088-9BE4-269E-7728-2DAB69865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F436FB-DEA7-8BCC-AD12-806B14819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03A6C-D4DE-0A9C-713A-0941073A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C" sz="3600" b="1" dirty="0">
                <a:solidFill>
                  <a:schemeClr val="bg1"/>
                </a:solidFill>
              </a:rPr>
              <a:t>🐳 Docker </a:t>
            </a:r>
            <a:r>
              <a:rPr lang="es-EC" sz="3600" b="1" dirty="0" err="1">
                <a:solidFill>
                  <a:schemeClr val="bg1"/>
                </a:solidFill>
              </a:rPr>
              <a:t>Image</a:t>
            </a:r>
            <a:r>
              <a:rPr lang="es-EC" sz="3600" b="1" dirty="0">
                <a:solidFill>
                  <a:schemeClr val="bg1"/>
                </a:solidFill>
              </a:rPr>
              <a:t> </a:t>
            </a:r>
            <a:r>
              <a:rPr lang="es-EC" sz="3600" b="1" dirty="0" err="1">
                <a:solidFill>
                  <a:schemeClr val="bg1"/>
                </a:solidFill>
              </a:rPr>
              <a:t>Variants</a:t>
            </a:r>
            <a:endParaRPr lang="es-EC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B2D2AB4-A33E-A9A1-E5C7-0CBA466BE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09274"/>
              </p:ext>
            </p:extLst>
          </p:nvPr>
        </p:nvGraphicFramePr>
        <p:xfrm>
          <a:off x="524784" y="1951672"/>
          <a:ext cx="3638811" cy="2560320"/>
        </p:xfrm>
        <a:graphic>
          <a:graphicData uri="http://schemas.openxmlformats.org/drawingml/2006/table">
            <a:tbl>
              <a:tblPr/>
              <a:tblGrid>
                <a:gridCol w="3638811">
                  <a:extLst>
                    <a:ext uri="{9D8B030D-6E8A-4147-A177-3AD203B41FA5}">
                      <a16:colId xmlns:a16="http://schemas.microsoft.com/office/drawing/2014/main" val="797073760"/>
                    </a:ext>
                  </a:extLst>
                </a:gridCol>
              </a:tblGrid>
              <a:tr h="1903956">
                <a:tc>
                  <a:txBody>
                    <a:bodyPr/>
                    <a:lstStyle/>
                    <a:p>
                      <a:r>
                        <a:rPr lang="es-EC" b="1" dirty="0"/>
                        <a:t>🧱 Base OS (Sistema base)</a:t>
                      </a:r>
                    </a:p>
                    <a:p>
                      <a:r>
                        <a:rPr lang="es-EC" dirty="0"/>
                        <a:t>Debian (</a:t>
                      </a:r>
                      <a:r>
                        <a:rPr lang="es-EC" dirty="0" err="1"/>
                        <a:t>buster</a:t>
                      </a:r>
                      <a:r>
                        <a:rPr lang="es-EC" dirty="0"/>
                        <a:t>, </a:t>
                      </a:r>
                      <a:r>
                        <a:rPr lang="es-EC" dirty="0" err="1"/>
                        <a:t>bullseye</a:t>
                      </a:r>
                      <a:r>
                        <a:rPr lang="es-EC" dirty="0"/>
                        <a:t>, </a:t>
                      </a:r>
                      <a:r>
                        <a:rPr lang="es-EC" dirty="0" err="1"/>
                        <a:t>bookworm</a:t>
                      </a:r>
                      <a:r>
                        <a:rPr lang="es-EC" dirty="0"/>
                        <a:t>) </a:t>
                      </a:r>
                    </a:p>
                    <a:p>
                      <a:r>
                        <a:rPr lang="es-EC" dirty="0"/>
                        <a:t>Alpine </a:t>
                      </a:r>
                    </a:p>
                    <a:p>
                      <a:r>
                        <a:rPr lang="es-EC" dirty="0"/>
                        <a:t>Ubuntu </a:t>
                      </a:r>
                    </a:p>
                    <a:p>
                      <a:r>
                        <a:rPr lang="es-EC" dirty="0"/>
                        <a:t>Windows </a:t>
                      </a:r>
                    </a:p>
                    <a:p>
                      <a:r>
                        <a:rPr lang="es-EC" dirty="0"/>
                        <a:t>👉 Define el </a:t>
                      </a:r>
                      <a:r>
                        <a:rPr lang="es-EC" b="1" dirty="0"/>
                        <a:t>sistema operativo base</a:t>
                      </a:r>
                      <a:br>
                        <a:rPr lang="es-EC" b="1" dirty="0"/>
                      </a:br>
                      <a:br>
                        <a:rPr lang="es-EC" b="1" dirty="0"/>
                      </a:br>
                      <a:endParaRPr lang="es-EC" dirty="0"/>
                    </a:p>
                    <a:p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50858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D1AB289C-B796-9F27-35F9-2B3C1175A88D}"/>
              </a:ext>
            </a:extLst>
          </p:cNvPr>
          <p:cNvSpPr txBox="1"/>
          <p:nvPr/>
        </p:nvSpPr>
        <p:spPr>
          <a:xfrm>
            <a:off x="4571998" y="199958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⚖️ Tipo de imagen</a:t>
            </a:r>
          </a:p>
          <a:p>
            <a:r>
              <a:rPr lang="es-MX" dirty="0"/>
              <a:t>Full → completa </a:t>
            </a:r>
          </a:p>
          <a:p>
            <a:r>
              <a:rPr lang="es-MX" dirty="0"/>
              <a:t>Slim → reducida </a:t>
            </a:r>
          </a:p>
          <a:p>
            <a:r>
              <a:rPr lang="es-MX" dirty="0"/>
              <a:t>Alpine → mínima </a:t>
            </a:r>
          </a:p>
          <a:p>
            <a:r>
              <a:rPr lang="es-MX" dirty="0"/>
              <a:t>👉 Define el </a:t>
            </a:r>
            <a:r>
              <a:rPr lang="es-MX" b="1" dirty="0"/>
              <a:t>tamaño y contenido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B09EAAC-5A64-8E31-410C-37772B2C2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593" y="3777719"/>
            <a:ext cx="4980405" cy="27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7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73EB16-42FA-4EC1-709B-C79EB481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🧠 ¿</a:t>
            </a:r>
            <a:r>
              <a:rPr lang="en-US" sz="35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3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es docker compose ?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033F5CF-5974-F0BD-8560-2E97767927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017986"/>
            <a:ext cx="8495662" cy="245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4A9ED9-F30C-77D8-D8C2-33CCBB2D3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84" y="4477407"/>
            <a:ext cx="8295046" cy="17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0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A5C9E0-03A6-BABE-E427-D9917D3F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 fontScale="90000"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🔧 🆚 Sin </a:t>
            </a:r>
            <a:r>
              <a:rPr lang="es-ES" sz="3500" dirty="0" err="1">
                <a:solidFill>
                  <a:srgbClr val="FFFFFF"/>
                </a:solidFill>
              </a:rPr>
              <a:t>docker-compose</a:t>
            </a:r>
            <a:r>
              <a:rPr lang="es-ES" sz="3500" dirty="0">
                <a:solidFill>
                  <a:srgbClr val="FFFFFF"/>
                </a:solidFill>
              </a:rPr>
              <a:t> vs Con </a:t>
            </a:r>
            <a:r>
              <a:rPr lang="es-ES" sz="3500" dirty="0" err="1">
                <a:solidFill>
                  <a:srgbClr val="FFFFFF"/>
                </a:solidFill>
              </a:rPr>
              <a:t>docker-compose</a:t>
            </a:r>
            <a:endParaRPr lang="es-EC" sz="3500" dirty="0">
              <a:solidFill>
                <a:srgbClr val="FFFFFF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6872989-BB19-F7AB-8E53-EDBB6898F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813"/>
          <a:stretch/>
        </p:blipFill>
        <p:spPr>
          <a:xfrm>
            <a:off x="-9521" y="1590741"/>
            <a:ext cx="3961411" cy="526725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4F8697D-AA20-16D0-1E39-3F3A8927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18" r="6002" b="1538"/>
          <a:stretch/>
        </p:blipFill>
        <p:spPr>
          <a:xfrm>
            <a:off x="5019830" y="1587395"/>
            <a:ext cx="4108892" cy="526726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2B6161A-F349-F753-6947-AD1D65578161}"/>
              </a:ext>
            </a:extLst>
          </p:cNvPr>
          <p:cNvSpPr txBox="1"/>
          <p:nvPr/>
        </p:nvSpPr>
        <p:spPr>
          <a:xfrm>
            <a:off x="4009696" y="3618111"/>
            <a:ext cx="9523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dirty="0">
                <a:solidFill>
                  <a:srgbClr val="FFFFFF"/>
                </a:solidFill>
              </a:rPr>
              <a:t>🆚 </a:t>
            </a:r>
            <a:endParaRPr lang="es-EC" sz="4400" dirty="0"/>
          </a:p>
        </p:txBody>
      </p:sp>
    </p:spTree>
    <p:extLst>
      <p:ext uri="{BB962C8B-B14F-4D97-AF65-F5344CB8AC3E}">
        <p14:creationId xmlns:p14="http://schemas.microsoft.com/office/powerpoint/2010/main" val="215923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0F9C1-2D6C-DB63-D6C8-BF01D17A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9BB4A-FFE8-5B73-1050-28DB5B2E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C" sz="35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😎Gracias Dian</a:t>
            </a:r>
            <a:br>
              <a:rPr lang="es-EC" sz="35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s-EC" sz="3500" kern="120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CF958DE3-E826-861D-204F-5FEBFB08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5374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919</Words>
  <Application>Microsoft Office PowerPoint</Application>
  <PresentationFormat>Presentación en pantalla (4:3)</PresentationFormat>
  <Paragraphs>99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Capacitación </vt:lpstr>
      <vt:lpstr>🚀 Introducción Docker </vt:lpstr>
      <vt:lpstr>🧠 ¿Qué problema resuelve Docker? </vt:lpstr>
      <vt:lpstr>🧠 ¿Comparativa con VM? </vt:lpstr>
      <vt:lpstr>🧠 ¿Qué problema resuelve Docker? </vt:lpstr>
      <vt:lpstr>✏️¿Qué es una imagen? ¿Qué es un contenedor?</vt:lpstr>
      <vt:lpstr>🐳 ¿Qué es un Dockerfile?</vt:lpstr>
      <vt:lpstr>🧩 Elementos de un contenedor Docker</vt:lpstr>
      <vt:lpstr>🐳 Docker Image Variants</vt:lpstr>
      <vt:lpstr>🧠 ¿Qué es docker compose ?</vt:lpstr>
      <vt:lpstr>🔧 🆚 Sin docker-compose vs Con docker-compose</vt:lpstr>
      <vt:lpstr>😎Gracias Dian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Bajaña Dian - DES GYE</dc:creator>
  <cp:keywords/>
  <dc:description>generated using python-pptx</dc:description>
  <cp:lastModifiedBy>Dian Fernando Bajaña Jimenez</cp:lastModifiedBy>
  <cp:revision>19</cp:revision>
  <dcterms:created xsi:type="dcterms:W3CDTF">2013-01-27T09:14:16Z</dcterms:created>
  <dcterms:modified xsi:type="dcterms:W3CDTF">2026-03-28T22:01:01Z</dcterms:modified>
  <cp:category/>
</cp:coreProperties>
</file>